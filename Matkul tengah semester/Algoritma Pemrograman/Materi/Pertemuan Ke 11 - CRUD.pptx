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307" r:id="rId4"/>
    <p:sldId id="308" r:id="rId5"/>
    <p:sldId id="296" r:id="rId6"/>
    <p:sldId id="318" r:id="rId7"/>
    <p:sldId id="319" r:id="rId8"/>
    <p:sldId id="320" r:id="rId9"/>
    <p:sldId id="321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CRUD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Oleh:</a:t>
            </a:r>
          </a:p>
          <a:p>
            <a:pPr algn="l"/>
            <a:r>
              <a:rPr lang="en-US"/>
              <a:t>Susilo Veri Yulianto, S.Kom., M.T.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US" sz="3200" dirty="0" err="1"/>
              <a:t>Singkatan</a:t>
            </a:r>
            <a:r>
              <a:rPr lang="en-US" sz="3200" dirty="0"/>
              <a:t> </a:t>
            </a:r>
            <a:r>
              <a:rPr lang="en-US" sz="3200" dirty="0" err="1"/>
              <a:t>dari</a:t>
            </a:r>
            <a:r>
              <a:rPr lang="en-US" sz="3200" dirty="0"/>
              <a:t> Create, Read, Update, dan Delete</a:t>
            </a:r>
          </a:p>
          <a:p>
            <a:pPr algn="just"/>
            <a:r>
              <a:rPr lang="en-US" sz="3200" dirty="0" err="1"/>
              <a:t>Merupakan</a:t>
            </a:r>
            <a:r>
              <a:rPr lang="en-US" sz="3200" dirty="0"/>
              <a:t> </a:t>
            </a:r>
            <a:r>
              <a:rPr lang="en-US" sz="3200" dirty="0" err="1"/>
              <a:t>perintah</a:t>
            </a:r>
            <a:r>
              <a:rPr lang="en-US" sz="3200" dirty="0"/>
              <a:t> </a:t>
            </a:r>
            <a:r>
              <a:rPr lang="en-US" sz="3200" dirty="0" err="1"/>
              <a:t>atau</a:t>
            </a:r>
            <a:r>
              <a:rPr lang="en-US" sz="3200" dirty="0"/>
              <a:t> </a:t>
            </a:r>
            <a:r>
              <a:rPr lang="en-US" sz="3200" dirty="0" err="1"/>
              <a:t>instruksi</a:t>
            </a:r>
            <a:r>
              <a:rPr lang="en-US" sz="3200" dirty="0"/>
              <a:t> </a:t>
            </a:r>
            <a:r>
              <a:rPr lang="en-US" sz="3200" dirty="0" err="1"/>
              <a:t>dasar</a:t>
            </a:r>
            <a:r>
              <a:rPr lang="en-US" sz="3200" dirty="0"/>
              <a:t> </a:t>
            </a:r>
            <a:r>
              <a:rPr lang="en-US" sz="3200" dirty="0" err="1"/>
              <a:t>dalam</a:t>
            </a:r>
            <a:r>
              <a:rPr lang="en-US" sz="3200" dirty="0"/>
              <a:t> </a:t>
            </a:r>
            <a:r>
              <a:rPr lang="en-US" sz="3200" dirty="0" err="1"/>
              <a:t>mengelola</a:t>
            </a:r>
            <a:r>
              <a:rPr lang="en-US" sz="3200" dirty="0"/>
              <a:t> data</a:t>
            </a:r>
          </a:p>
          <a:p>
            <a:pPr algn="just"/>
            <a:r>
              <a:rPr lang="en-US" sz="3200" dirty="0" err="1"/>
              <a:t>Umumnya</a:t>
            </a:r>
            <a:r>
              <a:rPr lang="en-US" sz="3200" dirty="0"/>
              <a:t> </a:t>
            </a:r>
            <a:r>
              <a:rPr lang="en-US" sz="3200" dirty="0" err="1"/>
              <a:t>diimplementasikan</a:t>
            </a:r>
            <a:r>
              <a:rPr lang="en-US" sz="3200" dirty="0"/>
              <a:t> pada </a:t>
            </a:r>
            <a:r>
              <a:rPr lang="en-US" sz="3200" dirty="0" err="1"/>
              <a:t>suatu</a:t>
            </a:r>
            <a:r>
              <a:rPr lang="en-US" sz="3200" dirty="0"/>
              <a:t> database</a:t>
            </a:r>
          </a:p>
          <a:p>
            <a:pPr algn="just"/>
            <a:r>
              <a:rPr lang="en-US" sz="3200" dirty="0"/>
              <a:t>Fitur </a:t>
            </a:r>
            <a:r>
              <a:rPr lang="en-US" sz="3200" dirty="0" err="1"/>
              <a:t>wajib</a:t>
            </a:r>
            <a:r>
              <a:rPr lang="en-US" sz="3200" dirty="0"/>
              <a:t> yang </a:t>
            </a:r>
            <a:r>
              <a:rPr lang="en-US" sz="3200" dirty="0" err="1"/>
              <a:t>digunakan</a:t>
            </a:r>
            <a:r>
              <a:rPr lang="en-US" sz="3200" dirty="0"/>
              <a:t> </a:t>
            </a:r>
            <a:r>
              <a:rPr lang="en-US" sz="3200" dirty="0" err="1"/>
              <a:t>dalam</a:t>
            </a:r>
            <a:r>
              <a:rPr lang="en-US" sz="3200" dirty="0"/>
              <a:t> </a:t>
            </a:r>
            <a:r>
              <a:rPr lang="en-US" sz="3200" dirty="0" err="1"/>
              <a:t>membangun</a:t>
            </a:r>
            <a:r>
              <a:rPr lang="en-US" sz="3200" dirty="0"/>
              <a:t> </a:t>
            </a:r>
            <a:r>
              <a:rPr lang="en-US" sz="3200" dirty="0" err="1"/>
              <a:t>aplikasi</a:t>
            </a:r>
            <a:endParaRPr lang="en-US" sz="3200" dirty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Gambaran CRUD</a:t>
            </a:r>
          </a:p>
        </p:txBody>
      </p:sp>
      <p:pic>
        <p:nvPicPr>
          <p:cNvPr id="100" name="Content Placeholder 99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621280" y="1266825"/>
            <a:ext cx="6950075" cy="48621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 Box 3"/>
          <p:cNvSpPr txBox="1"/>
          <p:nvPr/>
        </p:nvSpPr>
        <p:spPr>
          <a:xfrm>
            <a:off x="4496435" y="6129020"/>
            <a:ext cx="33375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sumber : course-net.com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Inisiasi Koneksi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655"/>
          </a:xfrm>
        </p:spPr>
        <p:txBody>
          <a:bodyPr>
            <a:normAutofit lnSpcReduction="10000"/>
          </a:bodyPr>
          <a:lstStyle/>
          <a:p>
            <a:r>
              <a:rPr lang="en-US"/>
              <a:t>Sebelum mengimplementasikan CRUD, koneksi ke database harus tercipta atau dilakukan terlebiuh dahulu</a:t>
            </a:r>
          </a:p>
          <a:p>
            <a:r>
              <a:rPr lang="en-US"/>
              <a:t>Koneksi database dilakukan melalui DBMS (Database Management System)</a:t>
            </a:r>
          </a:p>
          <a:p>
            <a:r>
              <a:rPr lang="en-US"/>
              <a:t>Setidaknya ada 4 paramater yang harus diperhatikan dalam koneksi database:</a:t>
            </a:r>
          </a:p>
          <a:p>
            <a:pPr lvl="1" indent="-451485">
              <a:buFont typeface="Arial" panose="020B0604020202020204" pitchFamily="34" charset="0"/>
              <a:buChar char="–"/>
            </a:pPr>
            <a:r>
              <a:rPr lang="en-US"/>
              <a:t>host / alamat server</a:t>
            </a:r>
          </a:p>
          <a:p>
            <a:pPr lvl="1" indent="-451485">
              <a:buFont typeface="Arial" panose="020B0604020202020204" pitchFamily="34" charset="0"/>
              <a:buChar char="–"/>
            </a:pPr>
            <a:r>
              <a:rPr lang="en-US"/>
              <a:t>nama database</a:t>
            </a:r>
          </a:p>
          <a:p>
            <a:pPr lvl="1" indent="-451485">
              <a:buFont typeface="Arial" panose="020B0604020202020204" pitchFamily="34" charset="0"/>
              <a:buChar char="–"/>
            </a:pPr>
            <a:r>
              <a:rPr lang="en-US"/>
              <a:t>nama user</a:t>
            </a:r>
          </a:p>
          <a:p>
            <a:pPr lvl="1" indent="-451485">
              <a:buFont typeface="Arial" panose="020B0604020202020204" pitchFamily="34" charset="0"/>
              <a:buChar char="–"/>
            </a:pPr>
            <a:r>
              <a:rPr lang="en-US"/>
              <a:t>password</a:t>
            </a:r>
            <a:endParaRPr lang="en-US">
              <a:latin typeface="Courier New" panose="02070309020205020404" charset="0"/>
              <a:cs typeface="Courier New" panose="02070309020205020404" charset="0"/>
            </a:endParaRPr>
          </a:p>
          <a:p>
            <a:pPr>
              <a:buNone/>
            </a:pPr>
            <a:endParaRPr lang="en-US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Create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r>
              <a:rPr lang="en-US"/>
              <a:t>Merupakan perintah atau instruksi yang digunakan untuk menambah data baru pada database</a:t>
            </a:r>
          </a:p>
          <a:p>
            <a:r>
              <a:rPr lang="en-US"/>
              <a:t>Dalam SQL (Structure Query Language), perintah ini menggunakan “INSERT INTO ...”</a:t>
            </a:r>
          </a:p>
          <a:p>
            <a:r>
              <a:rPr lang="en-US"/>
              <a:t>Contoh:</a:t>
            </a:r>
          </a:p>
          <a:p>
            <a:pPr lvl="1" indent="-451485" algn="l">
              <a:buClrTx/>
              <a:buSzTx/>
              <a:buChar char="–"/>
            </a:pPr>
            <a:r>
              <a:rPr lang="en-US">
                <a:latin typeface="Courier New" panose="02070309020205020404" charset="0"/>
                <a:cs typeface="Courier New" panose="02070309020205020404" charset="0"/>
              </a:rPr>
              <a:t>INSERT INTO mahasiswa (npm, namaMahasiswa, alamat) VALUES (23231001, ‘Rahmad Hidayat’, ‘Jl. Tanjung No. 23 Kota Madiun’)</a:t>
            </a:r>
          </a:p>
          <a:p>
            <a:pPr marL="234315" lvl="1" indent="0" algn="l">
              <a:buClrTx/>
              <a:buSzTx/>
              <a:buNone/>
            </a:pPr>
            <a:endParaRPr lang="en-US">
              <a:latin typeface="Courier New" panose="02070309020205020404" charset="0"/>
              <a:cs typeface="Courier New" panose="02070309020205020404" charset="0"/>
            </a:endParaRPr>
          </a:p>
          <a:p>
            <a:pPr marL="234315" lvl="1" indent="0" algn="l">
              <a:buClrTx/>
              <a:buSzTx/>
              <a:buNone/>
            </a:pPr>
            <a:r>
              <a:rPr lang="en-US"/>
              <a:t>atau</a:t>
            </a:r>
          </a:p>
          <a:p>
            <a:pPr marL="234315" lvl="1" indent="0" algn="l">
              <a:buClrTx/>
              <a:buSzTx/>
              <a:buNone/>
            </a:pPr>
            <a:endParaRPr lang="en-US"/>
          </a:p>
          <a:p>
            <a:pPr lvl="1" indent="-451485" algn="l">
              <a:buClrTx/>
              <a:buSzTx/>
              <a:buChar char="–"/>
            </a:pPr>
            <a:r>
              <a:rPr 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INSERT INTO mahasiswa VALUES (23231001, ‘Rahmad Hidayat’, ‘Jl. Tanjung No. 23 Kota Madiun’)</a:t>
            </a:r>
            <a:endParaRPr lang="en-US">
              <a:latin typeface="Courier New" panose="02070309020205020404" charset="0"/>
              <a:cs typeface="Courier New" panose="02070309020205020404" charset="0"/>
            </a:endParaRP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/>
              <a:t>Merupakan perintah atau instruksi yang digunakan untuk membaca atau mengambil data dari database</a:t>
            </a:r>
          </a:p>
          <a:p>
            <a:r>
              <a:rPr lang="en-US"/>
              <a:t>Dalam SQL, perintah ini menggunakan “SELECT ...”</a:t>
            </a:r>
          </a:p>
          <a:p>
            <a:r>
              <a:rPr lang="en-US"/>
              <a:t>Pada banyak kasus, perintah SELECT memiliki banyak macam:</a:t>
            </a:r>
          </a:p>
          <a:p>
            <a:pPr lvl="1" indent="-451485" algn="l">
              <a:buClrTx/>
              <a:buSzTx/>
              <a:buChar char="–"/>
            </a:pPr>
            <a:r>
              <a:rPr lang="en-US"/>
              <a:t>SELECT * FROM nama_tabel</a:t>
            </a:r>
          </a:p>
          <a:p>
            <a:pPr lvl="1" indent="-451485" algn="l">
              <a:buClrTx/>
              <a:buSzTx/>
              <a:buChar char="–"/>
            </a:pPr>
            <a:r>
              <a:rPr lang="en-US"/>
              <a:t>SELECT kolom_1, kolom_2, kolom_n FROM nama_tabel</a:t>
            </a:r>
          </a:p>
          <a:p>
            <a:pPr lvl="1" indent="-451485" algn="l">
              <a:buClrTx/>
              <a:buSzTx/>
              <a:buChar char="–"/>
            </a:pPr>
            <a:r>
              <a:rPr lang="en-US"/>
              <a:t>SELECT * FROM nama_tabel WHERE kondisi</a:t>
            </a:r>
          </a:p>
          <a:p>
            <a:pPr lvl="1" indent="-451485" algn="l">
              <a:buClrTx/>
              <a:buSzTx/>
              <a:buChar char="–"/>
            </a:pPr>
            <a:r>
              <a:rPr lang="en-US"/>
              <a:t>dan sebagainya</a:t>
            </a:r>
          </a:p>
          <a:p>
            <a:r>
              <a:rPr lang="en-US"/>
              <a:t>Contoh:</a:t>
            </a:r>
          </a:p>
          <a:p>
            <a:pPr lvl="1" indent="-451485" algn="l">
              <a:buClrTx/>
              <a:buSzTx/>
              <a:buChar char="–"/>
            </a:pPr>
            <a:r>
              <a:rPr lang="en-US">
                <a:latin typeface="Courier New" panose="02070309020205020404" charset="0"/>
                <a:cs typeface="Courier New" panose="02070309020205020404" charset="0"/>
              </a:rPr>
              <a:t>SELECT * FROM mahasiswa</a:t>
            </a:r>
          </a:p>
          <a:p>
            <a:pPr lvl="1" indent="-451485" algn="l">
              <a:buClrTx/>
              <a:buSzTx/>
              <a:buChar char="–"/>
            </a:pPr>
            <a:r>
              <a:rPr lang="en-US">
                <a:latin typeface="Courier New" panose="02070309020205020404" charset="0"/>
                <a:cs typeface="Courier New" panose="02070309020205020404" charset="0"/>
              </a:rPr>
              <a:t>SELECT * FROM mahasiswa WHERE npm=23232212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Merupakan perintah atau instruksi yang digunakan untuk mengubah data pada database</a:t>
            </a:r>
          </a:p>
          <a:p>
            <a:r>
              <a:rPr lang="en-US"/>
              <a:t>Dalam SQL, perintah ini menggunakan “UPDATE ...”</a:t>
            </a:r>
          </a:p>
          <a:p>
            <a:r>
              <a:rPr lang="en-US"/>
              <a:t>Pada perintah update, harus menyertakan kondisi yang menentukan data atau baris mana saja yang akan diubah</a:t>
            </a:r>
          </a:p>
          <a:p>
            <a:r>
              <a:rPr lang="en-US"/>
              <a:t>Contoh:</a:t>
            </a:r>
          </a:p>
          <a:p>
            <a:pPr lvl="1" indent="-451485" algn="l">
              <a:buClrTx/>
              <a:buSzTx/>
              <a:buChar char="–"/>
            </a:pPr>
            <a:r>
              <a:rPr lang="en-US">
                <a:latin typeface="Courier New" panose="02070309020205020404" charset="0"/>
                <a:cs typeface="Courier New" panose="02070309020205020404" charset="0"/>
              </a:rPr>
              <a:t>UPDATE mahasiswa SET namaMahasiswa=’Rahmad Kurniawan’ WHERE npm=2323211</a:t>
            </a:r>
          </a:p>
          <a:p>
            <a:pPr lvl="1" indent="-451485" algn="l">
              <a:buClrTx/>
              <a:buSzTx/>
              <a:buChar char="–"/>
            </a:pPr>
            <a:r>
              <a:rPr lang="en-US">
                <a:latin typeface="Courier New" panose="02070309020205020404" charset="0"/>
                <a:cs typeface="Courier New" panose="02070309020205020404" charset="0"/>
              </a:rPr>
              <a:t>UPDATE mahasiswa SET alamat=’Jl. Mangga No. 32 Kota Madiun’ WHERE namaMahasiswa=’Rahmad Kurniawan’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en-US"/>
              <a:t>Merupakan perintah atau instruksi yang digunakan untuk menghapus data dari database</a:t>
            </a:r>
          </a:p>
          <a:p>
            <a:r>
              <a:rPr lang="en-US"/>
              <a:t>Dalam SQL, perintah ini menggunakan “DELETE ...”</a:t>
            </a:r>
          </a:p>
          <a:p>
            <a:r>
              <a:rPr lang="en-US">
                <a:sym typeface="+mn-ea"/>
              </a:rPr>
              <a:t>Seperti halnya pada perintah update, perintah delete juga harus menyertakan kondisi yang menentukan data atau baris mana saja yang akan dihapus</a:t>
            </a:r>
            <a:endParaRPr lang="en-US"/>
          </a:p>
          <a:p>
            <a:r>
              <a:rPr lang="en-US"/>
              <a:t>Contoh:</a:t>
            </a:r>
          </a:p>
          <a:p>
            <a:pPr lvl="1" indent="-451485" algn="l">
              <a:buClrTx/>
              <a:buSzTx/>
              <a:buChar char="–"/>
            </a:pPr>
            <a:r>
              <a:rPr lang="en-US">
                <a:latin typeface="Courier New" panose="02070309020205020404" charset="0"/>
                <a:cs typeface="Courier New" panose="02070309020205020404" charset="0"/>
              </a:rPr>
              <a:t>DELETE FROM mahasiswa WHERE npm=23232212</a:t>
            </a:r>
          </a:p>
          <a:p>
            <a:pPr lvl="1" indent="-451485" algn="l">
              <a:buClrTx/>
              <a:buSzTx/>
              <a:buChar char="–"/>
            </a:pPr>
            <a:r>
              <a:rPr 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DELETE FROM mahasiswa WHERE namaMahasiswa=’Rahmad Kurniawan’</a:t>
            </a:r>
            <a:endParaRPr lang="en-US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Python dan MySQL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Python merupakan salah satu bahasa pemrograman yang memungkinkan untuk terhubung dengan MySQL.</a:t>
            </a:r>
          </a:p>
          <a:p>
            <a:r>
              <a:rPr lang="en-US"/>
              <a:t>Untuk menghubungkan Python dengan MySQL, Python membutuhkan package tambahan seperti mysql-connector.</a:t>
            </a:r>
          </a:p>
          <a:p>
            <a:pPr algn="l">
              <a:buClrTx/>
              <a:buSzTx/>
            </a:pPr>
            <a:r>
              <a:rPr lang="en-US"/>
              <a:t>Setelah package tersebut berhasil ditambahkan, maka CRUD dapat diimplementasikan dengan menggunakan Python.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1341438"/>
            <a:ext cx="9144000" cy="2387600"/>
          </a:xfrm>
        </p:spPr>
        <p:txBody>
          <a:bodyPr/>
          <a:lstStyle/>
          <a:p>
            <a:r>
              <a:rPr lang="en-US"/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434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CRUD</vt:lpstr>
      <vt:lpstr>CRUD</vt:lpstr>
      <vt:lpstr>Gambaran CRUD</vt:lpstr>
      <vt:lpstr>Inisiasi Koneksi</vt:lpstr>
      <vt:lpstr>Create</vt:lpstr>
      <vt:lpstr>Read</vt:lpstr>
      <vt:lpstr>Update</vt:lpstr>
      <vt:lpstr>Delete</vt:lpstr>
      <vt:lpstr>Python dan MySQL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Flowchart dan Pseudo Code</dc:title>
  <dc:creator/>
  <cp:lastModifiedBy>ghali marzani</cp:lastModifiedBy>
  <cp:revision>40</cp:revision>
  <dcterms:created xsi:type="dcterms:W3CDTF">2022-09-14T00:04:00Z</dcterms:created>
  <dcterms:modified xsi:type="dcterms:W3CDTF">2025-11-17T06:03:19Z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C169781512ED439DAEEAC99C4E4345F3</vt:lpwstr>
  </property>
  <property fmtid="{D5CDD505-2E9C-101B-9397-08002B2CF9AE}" pid="3" name="KSOProductBuildVer">
    <vt:lpwstr>1033-11.2.0.11225</vt:lpwstr>
  </property>
</Properties>
</file>